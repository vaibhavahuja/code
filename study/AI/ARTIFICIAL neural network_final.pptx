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762000" y="1371600"/>
            <a:ext cx="7696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762000" y="3765550"/>
            <a:ext cx="7696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spcBef>
                <a:spcPts val="560"/>
              </a:spcBef>
              <a:spcAft>
                <a:spcPts val="0"/>
              </a:spcAft>
              <a:buSzPts val="1960"/>
              <a:buFont typeface="Noto Sans Symbols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08610" lvl="0" marL="457200" rtl="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rtl="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457200" y="1828800"/>
            <a:ext cx="4038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53060" lvl="0" marL="457200" rtl="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rtl="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4648200" y="1828800"/>
            <a:ext cx="4038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53060" lvl="0" marL="457200" rtl="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rtl="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 rot="5400000">
            <a:off x="4859400" y="2303400"/>
            <a:ext cx="5597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 rot="5400000">
            <a:off x="668400" y="322200"/>
            <a:ext cx="5597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08610" lvl="0" marL="457200" rtl="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rtl="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 rot="5400000">
            <a:off x="2421000" y="-135000"/>
            <a:ext cx="4302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08610" lvl="0" marL="457200" rtl="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rtl="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rtl="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rtl="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None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70840" lvl="0" marL="457200" rtl="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indent="-361950" lvl="1" marL="9144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27660" lvl="2" marL="1371600" rtl="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indent="-323850" lvl="3" marL="1828800" rtl="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indent="-292100" lvl="4" marL="2286000" rtl="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indent="-292100" lvl="5" marL="2743200" rtl="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indent="-292100" lvl="6" marL="3200400" rtl="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indent="-292100" lvl="7" marL="3657600" rtl="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indent="-292100" lvl="8" marL="4114800" rtl="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/>
        </p:txBody>
      </p:sp>
      <p:sp>
        <p:nvSpPr>
          <p:cNvPr id="76" name="Google Shape;76;p1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35280" lvl="0" marL="457200" rtl="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rtl="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rtl="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rtl="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35280" lvl="0" marL="457200" rtl="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rtl="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rtl="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rtl="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rtl="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rtl="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rtl="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rtl="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rtl="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rtl="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rtl="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rtl="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97" name="Google Shape;97;p13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381000" y="990600"/>
            <a:ext cx="76200" cy="510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" name="Google Shape;7;p1"/>
          <p:cNvGrpSpPr/>
          <p:nvPr/>
        </p:nvGrpSpPr>
        <p:grpSpPr>
          <a:xfrm>
            <a:off x="381000" y="304800"/>
            <a:ext cx="8391600" cy="5791200"/>
            <a:chOff x="381000" y="304800"/>
            <a:chExt cx="8391600" cy="5791200"/>
          </a:xfrm>
        </p:grpSpPr>
        <p:sp>
          <p:nvSpPr>
            <p:cNvPr id="8" name="Google Shape;8;p1"/>
            <p:cNvSpPr txBox="1"/>
            <p:nvPr/>
          </p:nvSpPr>
          <p:spPr>
            <a:xfrm flipH="1" rot="10800000">
              <a:off x="8312150" y="304800"/>
              <a:ext cx="457200" cy="457200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Google Shape;9;p1"/>
            <p:cNvSpPr txBox="1"/>
            <p:nvPr/>
          </p:nvSpPr>
          <p:spPr>
            <a:xfrm flipH="1" rot="10800000">
              <a:off x="381000" y="304800"/>
              <a:ext cx="7943700" cy="457200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" name="Google Shape;10;p1"/>
            <p:cNvSpPr txBox="1"/>
            <p:nvPr/>
          </p:nvSpPr>
          <p:spPr>
            <a:xfrm flipH="1" rot="10800000">
              <a:off x="381000" y="762000"/>
              <a:ext cx="7943700" cy="228600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" name="Google Shape;11;p1"/>
            <p:cNvSpPr txBox="1"/>
            <p:nvPr/>
          </p:nvSpPr>
          <p:spPr>
            <a:xfrm flipH="1" rot="10800000">
              <a:off x="8321675" y="762000"/>
              <a:ext cx="447600" cy="228600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" name="Google Shape;12;p1"/>
            <p:cNvCxnSpPr/>
            <p:nvPr/>
          </p:nvCxnSpPr>
          <p:spPr>
            <a:xfrm rot="10800000">
              <a:off x="762000" y="3581400"/>
              <a:ext cx="76962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" name="Google Shape;13;p1"/>
            <p:cNvSpPr txBox="1"/>
            <p:nvPr/>
          </p:nvSpPr>
          <p:spPr>
            <a:xfrm>
              <a:off x="381000" y="304800"/>
              <a:ext cx="8391600" cy="57912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" name="Google Shape;14;p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31" name="Google Shape;31;p3"/>
          <p:cNvGrpSpPr/>
          <p:nvPr/>
        </p:nvGrpSpPr>
        <p:grpSpPr>
          <a:xfrm>
            <a:off x="279400" y="152400"/>
            <a:ext cx="8686800" cy="1600200"/>
            <a:chOff x="279400" y="152400"/>
            <a:chExt cx="8686800" cy="1600200"/>
          </a:xfrm>
        </p:grpSpPr>
        <p:cxnSp>
          <p:nvCxnSpPr>
            <p:cNvPr id="32" name="Google Shape;32;p3"/>
            <p:cNvCxnSpPr/>
            <p:nvPr/>
          </p:nvCxnSpPr>
          <p:spPr>
            <a:xfrm rot="10800000">
              <a:off x="457200" y="1752600"/>
              <a:ext cx="83058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3" name="Google Shape;33;p3"/>
            <p:cNvSpPr txBox="1"/>
            <p:nvPr/>
          </p:nvSpPr>
          <p:spPr>
            <a:xfrm>
              <a:off x="8737600" y="152400"/>
              <a:ext cx="228600" cy="228600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279400" y="152400"/>
              <a:ext cx="8454900" cy="228600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" name="Google Shape;35;p3"/>
            <p:cNvSpPr txBox="1"/>
            <p:nvPr/>
          </p:nvSpPr>
          <p:spPr>
            <a:xfrm>
              <a:off x="279400" y="381000"/>
              <a:ext cx="8454900" cy="139800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" name="Google Shape;36;p3"/>
            <p:cNvSpPr txBox="1"/>
            <p:nvPr/>
          </p:nvSpPr>
          <p:spPr>
            <a:xfrm>
              <a:off x="8737600" y="382587"/>
              <a:ext cx="228600" cy="136500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ctrTitle"/>
          </p:nvPr>
        </p:nvSpPr>
        <p:spPr>
          <a:xfrm>
            <a:off x="5148262" y="1412875"/>
            <a:ext cx="3381300" cy="428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                      </a:t>
            </a:r>
            <a:br>
              <a:rPr b="0" i="0" lang="en-US" sz="3200" u="non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NEURAL</a:t>
            </a:r>
            <a:br>
              <a:rPr b="0" i="0" lang="en-US" sz="3200" u="non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NETWORK</a:t>
            </a:r>
            <a:br>
              <a:rPr b="0" i="0" lang="en-US" sz="2800" u="non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800" u="non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pic>
        <p:nvPicPr>
          <p:cNvPr descr="network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341437"/>
            <a:ext cx="4176712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idx="4294967295" type="title"/>
          </p:nvPr>
        </p:nvSpPr>
        <p:spPr>
          <a:xfrm>
            <a:off x="4140200" y="533400"/>
            <a:ext cx="5003700" cy="1143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11" name="Google Shape;111;p15"/>
          <p:cNvSpPr txBox="1"/>
          <p:nvPr>
            <p:ph idx="4294967295" type="body"/>
          </p:nvPr>
        </p:nvSpPr>
        <p:spPr>
          <a:xfrm>
            <a:off x="4813300" y="1989137"/>
            <a:ext cx="4330800" cy="446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80"/>
              <a:buFont typeface="Noto Sans Symbols"/>
              <a:buChar char="□"/>
            </a:pPr>
            <a:r>
              <a:rPr b="0" i="0" lang="en-US" sz="2400" u="none" cap="none" strike="noStrik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neural network (ANN) is an</a:t>
            </a:r>
            <a:r>
              <a:rPr b="1" i="0" lang="en-US" sz="2400" u="none" cap="none" strike="noStrik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processing paradigm inspired by biological nervous systems</a:t>
            </a:r>
            <a:r>
              <a:rPr b="0" i="0" lang="en-US" sz="3200" u="none" cap="none" strike="noStrik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6322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66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6600"/>
              </a:buClr>
              <a:buSzPts val="1680"/>
              <a:buFont typeface="Noto Sans Symbols"/>
              <a:buChar char="□"/>
            </a:pPr>
            <a:r>
              <a:rPr b="0" i="0" lang="en-US" sz="2400" u="none" cap="none" strike="noStrik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have the ability to learn from experience</a:t>
            </a:r>
            <a:endParaRPr/>
          </a:p>
        </p:txBody>
      </p:sp>
      <p:pic>
        <p:nvPicPr>
          <p:cNvPr descr="mGFP_neuron2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620712"/>
            <a:ext cx="3884613" cy="597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Shape 113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33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66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HISTORY</a:t>
            </a:r>
            <a:endParaRPr/>
          </a:p>
        </p:txBody>
      </p:sp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3276600" y="1828800"/>
            <a:ext cx="5688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□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1943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McCulloch and Pitts proposed the McCulloch-Pitts neuron model</a:t>
            </a:r>
            <a:endParaRPr/>
          </a:p>
          <a:p>
            <a:pPr indent="-46990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□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1958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Rosenblatt introduced the simple single layer networks now called Perceptrons.</a:t>
            </a:r>
            <a:endParaRPr/>
          </a:p>
          <a:p>
            <a:pPr indent="-39878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□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1982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Hopfield published a series of papers on Hopfield networks.</a:t>
            </a:r>
            <a:endParaRPr/>
          </a:p>
          <a:p>
            <a:pPr indent="-39878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□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1982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Kohonen developed the Self-Organising Maps that now bear his name.</a:t>
            </a:r>
            <a:endParaRPr/>
          </a:p>
          <a:p>
            <a:pPr indent="-39878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□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1986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Back-Propagation learning algorithm for Multi-Layer Perceptrons was rediscovered  and the whole field took off again.</a:t>
            </a:r>
            <a:endParaRPr/>
          </a:p>
          <a:p>
            <a:pPr indent="-39878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□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1990s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sub-field of Radial Basis Function Networks was developed.</a:t>
            </a:r>
            <a:endParaRPr/>
          </a:p>
          <a:p>
            <a:pPr indent="-39878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□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2000s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of Ensembles of Neural Networks and Support Vector Machines becomes apparent.</a:t>
            </a:r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  <p:pic>
        <p:nvPicPr>
          <p:cNvPr descr="3d_model_neuron_web3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620712"/>
            <a:ext cx="3024187" cy="60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4427537" y="533400"/>
            <a:ext cx="446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66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99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 NEURON</a:t>
            </a:r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4500562" y="1828800"/>
            <a:ext cx="4186200" cy="47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element of human brain</a:t>
            </a:r>
            <a:endParaRPr/>
          </a:p>
          <a:p>
            <a:pPr indent="-469900" lvl="0" marL="469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inputs and one output</a:t>
            </a:r>
            <a:endParaRPr/>
          </a:p>
          <a:p>
            <a:pPr indent="-469900" lvl="0" marL="469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main components</a:t>
            </a:r>
            <a:endParaRPr/>
          </a:p>
          <a:p>
            <a:pPr indent="-468312" lvl="2" marL="1377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Char char="❑"/>
            </a:pPr>
            <a:r>
              <a:rPr b="0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Soma</a:t>
            </a:r>
            <a:endParaRPr/>
          </a:p>
          <a:p>
            <a:pPr indent="-468312" lvl="2" marL="1377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Char char="❑"/>
            </a:pPr>
            <a:r>
              <a:rPr b="0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Axon</a:t>
            </a:r>
            <a:endParaRPr/>
          </a:p>
          <a:p>
            <a:pPr indent="-468312" lvl="2" marL="1377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Char char="❑"/>
            </a:pPr>
            <a:r>
              <a:rPr b="0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Dendrite</a:t>
            </a:r>
            <a:endParaRPr/>
          </a:p>
          <a:p>
            <a:pPr indent="-468312" lvl="2" marL="1377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Char char="❑"/>
            </a:pPr>
            <a:r>
              <a:rPr b="0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Synapses</a:t>
            </a:r>
            <a:endParaRPr/>
          </a:p>
          <a:p>
            <a:pPr indent="-468312" lvl="2" marL="1377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t/>
            </a:r>
            <a:endParaRPr b="0" i="0" sz="1800" u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8312" lvl="2" marL="1377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t/>
            </a:r>
            <a:endParaRPr b="0" i="0" sz="1800" u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8312" lvl="2" marL="1377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b="0" i="0" lang="en-US" sz="1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/>
          </a:p>
        </p:txBody>
      </p:sp>
      <p:pic>
        <p:nvPicPr>
          <p:cNvPr descr="neuron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620712"/>
            <a:ext cx="4176712" cy="62372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Shape 129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8000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PRECEPTRON</a:t>
            </a:r>
            <a:endParaRPr/>
          </a:p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457200" y="2060575"/>
            <a:ext cx="8229600" cy="4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7660" lvl="0" marL="469900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ceptron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50" y="1916112"/>
            <a:ext cx="89281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Shape 137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755650" y="533400"/>
            <a:ext cx="7931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ARTIFICIAL NEURON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5003800" y="1828800"/>
            <a:ext cx="3683100" cy="4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7660" lvl="0" marL="469900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euralNetworkNeuron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1844675"/>
            <a:ext cx="7632700" cy="4608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Shape 145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rgbClr val="99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 OF NN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Exhibits mapping capabilities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NN learn by examples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NN are Robust and fault tolerant. They can recall the incomplete, partial patterns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NNs can process the information in parallel, at high speed, and in a distributed manner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4716462" y="533400"/>
            <a:ext cx="397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i="0" lang="en-US" sz="3200" u="none">
                <a:solidFill>
                  <a:srgbClr val="99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4356100" y="1773237"/>
            <a:ext cx="4402200" cy="484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-US" sz="2800" u="none">
                <a:solidFill>
                  <a:srgbClr val="0099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three approaches of training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rgbClr val="99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Training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800" u="none">
                <a:solidFill>
                  <a:srgbClr val="0099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network is provided with the desired output.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rgbClr val="99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Unsupervised Training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800" u="none">
                <a:solidFill>
                  <a:srgbClr val="0099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network has to make sense of the inputs without outside help.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rgbClr val="99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Reinforced Training: </a:t>
            </a:r>
            <a:endParaRPr/>
          </a:p>
          <a:p>
            <a:pPr indent="-345440" lvl="0" marL="469900" rtl="0" algn="l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b="0" i="0" sz="2800" u="none">
              <a:solidFill>
                <a:srgbClr val="9933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2s"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765175"/>
            <a:ext cx="3792537" cy="590391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Shape 159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LAWS</a:t>
            </a:r>
            <a:endParaRPr/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250825" y="1828800"/>
            <a:ext cx="84360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❖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HEBB’S RULE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“If a neuron receives an input from another neuron and if both are highly active, the weight between the neurons should be strengthened”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❖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HOPFIELD LAW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“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desired and actual output are both active or both          inactive, increment the connection weight by the learning rate, otherwise decrement the weight by the learning rate</a:t>
            </a:r>
            <a:r>
              <a:rPr b="0" i="1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</a:t>
            </a:r>
            <a:endParaRPr/>
          </a:p>
          <a:p>
            <a:pPr indent="-336550" lvl="0" marL="469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1" sz="3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69900" rtl="0" algn="l">
              <a:spcBef>
                <a:spcPts val="6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0" i="1" sz="3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LAWS CONTINUED</a:t>
            </a:r>
            <a:endParaRPr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❖"/>
            </a:pPr>
            <a:r>
              <a:rPr b="1" i="0" lang="en-US" sz="24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DELTA RULE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delta error is back-propagated  into previous layer one   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layer at a time.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❖"/>
            </a:pPr>
            <a:r>
              <a:rPr b="1" i="0" lang="en-US" sz="24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GRADIENT DESCENT RULE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US" sz="24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ΔWij=η(ðE/ðWij)</a:t>
            </a:r>
            <a:endParaRPr/>
          </a:p>
          <a:p>
            <a:pPr indent="-36322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1" i="0" sz="2400" u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❖"/>
            </a:pPr>
            <a:r>
              <a:rPr b="1" i="0" lang="en-US" sz="24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KOHONEN’S LEARNING LAW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US" sz="24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4284662" y="533400"/>
            <a:ext cx="42879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/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4427537" y="1828800"/>
            <a:ext cx="4537200" cy="433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1" i="0" lang="en-US" sz="1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Weighting Factors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coefficients that determine intensity of input signal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1" i="0" lang="en-US" sz="1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Summation Function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Computes the product sum of the input.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1" i="0" lang="en-US" sz="1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Function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Transforms the weighted sum to a working output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1" i="0" lang="en-US" sz="1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and Limiting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multiplies a scale factor to transfer value and then adds an offset and limiting maintains upper and lower bound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1" i="0" lang="en-US" sz="1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Function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Neurons compete with each other, inhibiting processing elements.</a:t>
            </a:r>
            <a:endParaRPr/>
          </a:p>
          <a:p>
            <a:pPr indent="-389890" lvl="0" marL="469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eurons" id="180" name="Google Shape;1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692150"/>
            <a:ext cx="4032250" cy="597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Shape 181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  <p:pic>
        <p:nvPicPr>
          <p:cNvPr descr="NeuralNetworkNeuron" id="182" name="Google Shape;1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2" y="4143375"/>
            <a:ext cx="4259262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SUMMATION FUNCTION</a:t>
            </a:r>
            <a:r>
              <a:rPr b="0" i="0" lang="en-US" sz="2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b="1" i="0" lang="en-US" sz="2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FUNCTION</a:t>
            </a:r>
            <a:endParaRPr/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539750" y="2133600"/>
            <a:ext cx="3251100" cy="3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5440" lvl="0" marL="469900" rtl="0" algn="l"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5076825" y="1989137"/>
            <a:ext cx="31671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5440" lvl="0" marL="469900" rtl="0" algn="l"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/>
          </a:p>
        </p:txBody>
      </p:sp>
      <p:sp>
        <p:nvSpPr>
          <p:cNvPr id="190" name="Google Shape;190;p25"/>
          <p:cNvSpPr txBox="1"/>
          <p:nvPr/>
        </p:nvSpPr>
        <p:spPr>
          <a:xfrm>
            <a:off x="395287" y="1989137"/>
            <a:ext cx="3528900" cy="4248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767676"/>
              </a:gs>
            </a:gsLst>
            <a:lin ang="5400012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5219700" y="1989137"/>
            <a:ext cx="3313200" cy="4176600"/>
          </a:xfrm>
          <a:prstGeom prst="rect">
            <a:avLst/>
          </a:prstGeom>
          <a:gradFill>
            <a:gsLst>
              <a:gs pos="0">
                <a:srgbClr val="767676"/>
              </a:gs>
              <a:gs pos="100000">
                <a:srgbClr val="FFFFFF"/>
              </a:gs>
            </a:gsLst>
            <a:lin ang="5400012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HYPERBOLIC TANGENT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SIGMOID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LIMIT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Shape 192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 V/S TRADITIONAL COMPUTING</a:t>
            </a: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7660" lvl="0" marL="469900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989137"/>
            <a:ext cx="7991475" cy="424973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Shape 200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1268412"/>
            <a:ext cx="8351838" cy="54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 txBox="1"/>
          <p:nvPr/>
        </p:nvSpPr>
        <p:spPr>
          <a:xfrm>
            <a:off x="1042987" y="692150"/>
            <a:ext cx="712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NETWORKS V/S EXPERT COMPUTING</a:t>
            </a:r>
            <a:endParaRPr/>
          </a:p>
        </p:txBody>
      </p:sp>
      <p:sp>
        <p:nvSpPr>
          <p:cNvPr id="207" name="Shape 207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NEURAL NETWORK</a:t>
            </a:r>
            <a:endParaRPr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layer feedforwad neural network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layer feedforward neural network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Recurrent network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NEURAL NETWORK</a:t>
            </a:r>
            <a:endParaRPr/>
          </a:p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FEED-FORWARD,BACK PROPAGATION NETWORK</a:t>
            </a:r>
            <a:endParaRPr/>
          </a:p>
          <a:p>
            <a:pPr indent="-469900" lvl="0" marL="469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/>
          </a:p>
          <a:p>
            <a:pPr indent="-363220" lvl="0" marL="469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0" y="250983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eedforward network" id="221" name="Google Shape;2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2852737"/>
            <a:ext cx="8424861" cy="352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Shape 222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0" y="692150"/>
            <a:ext cx="91440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FEED-FORWARD,BACK PROPAGATION NETWORK CONTINUED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468312" y="1557337"/>
            <a:ext cx="8229600" cy="50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consist of an input layer, an output layer and at least one hidden layer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general rules are used to create a feed-forward, back propagation network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Delta rule is used for training this network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 with lots of input is needed for training these networks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application includes speech synthesis from text, robot arms, evaluation of bank loans, image processing, knowledge representation, forecasting and prediction, and multi-target tracking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sp>
        <p:nvSpPr>
          <p:cNvPr id="229" name="Shape 229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212" y="298450"/>
            <a:ext cx="6864300" cy="58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propagation algorithm:</a:t>
            </a:r>
            <a:endParaRPr/>
          </a:p>
        </p:txBody>
      </p:sp>
      <p:pic>
        <p:nvPicPr>
          <p:cNvPr id="241" name="Google Shape;241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312" y="1785937"/>
            <a:ext cx="5267400" cy="22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500437"/>
            <a:ext cx="4572001" cy="31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teach the neural network we need training data set. The training data set consists of input signals (x1 and x2 ) assigned with corresponding target (desired output)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network training is an iterative process. In each iteration weights coefficients of nodes are modified using new data from training data set.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4" name="Google Shape;254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812" y="714375"/>
            <a:ext cx="5264100" cy="23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3062" y="3429000"/>
            <a:ext cx="6215062" cy="289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title"/>
          </p:nvPr>
        </p:nvSpPr>
        <p:spPr>
          <a:xfrm>
            <a:off x="457200" y="4929187"/>
            <a:ext cx="84009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Similarly find the Propagation of signals through the hidden layer and output layer </a:t>
            </a: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261" name="Google Shape;261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812" y="1857375"/>
            <a:ext cx="5133900" cy="23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457200" y="785812"/>
            <a:ext cx="83295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 signal of the network y is compared with the desired output value (the target), which is found in training data set. The difference is called error signal d of output layer neuron</a:t>
            </a:r>
            <a:endParaRPr/>
          </a:p>
        </p:txBody>
      </p:sp>
      <p:sp>
        <p:nvSpPr>
          <p:cNvPr id="267" name="Google Shape;267;p36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7660" lvl="0" marL="469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8" name="Google Shape;2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3214687"/>
            <a:ext cx="6443662" cy="27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457200" y="714375"/>
            <a:ext cx="83295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impossible to compute error signal for internal neurons directly, because output values of these neurons are unknown. The idea is to propagate error signal d (computed in single teaching step) back to all neurons</a:t>
            </a:r>
            <a:endParaRPr/>
          </a:p>
        </p:txBody>
      </p:sp>
      <p:pic>
        <p:nvPicPr>
          <p:cNvPr id="274" name="Google Shape;274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" y="2786062"/>
            <a:ext cx="3714900" cy="17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0562" y="2571750"/>
            <a:ext cx="3714750" cy="17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" y="4857750"/>
            <a:ext cx="252095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0" y="4786312"/>
            <a:ext cx="2801938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4786312"/>
            <a:ext cx="2522537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>
          <a:xfrm>
            <a:off x="457200" y="533400"/>
            <a:ext cx="83295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error signal for each neuron is computed, the weights coefficients of each neuron input node may be modified.</a:t>
            </a:r>
            <a:endParaRPr/>
          </a:p>
        </p:txBody>
      </p:sp>
      <p:pic>
        <p:nvPicPr>
          <p:cNvPr id="284" name="Google Shape;284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8337" y="2370137"/>
            <a:ext cx="5267400" cy="32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0"/>
            <a:ext cx="5267325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3352800"/>
            <a:ext cx="527685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20712"/>
            <a:ext cx="7696200" cy="5246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66750"/>
            <a:ext cx="7696200" cy="50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312" y="1785937"/>
            <a:ext cx="6858001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2"/>
          <p:cNvSpPr txBox="1"/>
          <p:nvPr/>
        </p:nvSpPr>
        <p:spPr>
          <a:xfrm>
            <a:off x="381000" y="4419600"/>
            <a:ext cx="7772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>
            <p:ph type="title"/>
          </p:nvPr>
        </p:nvSpPr>
        <p:spPr>
          <a:xfrm>
            <a:off x="457200" y="533400"/>
            <a:ext cx="82296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RECURRENT NEURAL NETWORK</a:t>
            </a:r>
            <a:endParaRPr/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457200" y="1412875"/>
            <a:ext cx="8229600" cy="47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recurrent neural network there is bi-directional data flow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□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HOPFIELD NETWORK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/>
          </a:p>
        </p:txBody>
      </p:sp>
      <p:pic>
        <p:nvPicPr>
          <p:cNvPr descr="neural13" id="313" name="Google Shape;3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3190875"/>
            <a:ext cx="5976937" cy="316706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Shape 314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idx="1" type="body"/>
          </p:nvPr>
        </p:nvSpPr>
        <p:spPr>
          <a:xfrm>
            <a:off x="457200" y="1989137"/>
            <a:ext cx="8229600" cy="4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network can be conceptualized in terms of its energy and the physics of dynamic systems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three layer input buffer, a Hopfield layer and an output layer and each layer has same number of processing element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learning rule used  to train this network is the Hopfield law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storage capacity is limited and the network becomes unstable when common pattern shared are too similar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320" name="Google Shape;320;p44"/>
          <p:cNvSpPr txBox="1"/>
          <p:nvPr/>
        </p:nvSpPr>
        <p:spPr>
          <a:xfrm>
            <a:off x="684212" y="1268412"/>
            <a:ext cx="3095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HOPFIELD NETWORK</a:t>
            </a:r>
            <a:endParaRPr/>
          </a:p>
        </p:txBody>
      </p:sp>
      <p:sp>
        <p:nvSpPr>
          <p:cNvPr id="321" name="Shape 321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idx="1" type="body"/>
          </p:nvPr>
        </p:nvSpPr>
        <p:spPr>
          <a:xfrm>
            <a:off x="395287" y="1341437"/>
            <a:ext cx="82296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HAMMING NETWORK</a:t>
            </a:r>
            <a:endParaRPr/>
          </a:p>
          <a:p>
            <a:pPr indent="-363220" lvl="0" marL="469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i="0" sz="2400" u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eural14" id="327" name="Google Shape;32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2708275"/>
            <a:ext cx="7200900" cy="374491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Shape 328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457200" y="2205037"/>
            <a:ext cx="82296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 of the Hopfield network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Implements a classifier based on least error for binary input vectors defined by hamming distance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three layers input, category and output layer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is similar to Hopfield methodology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include the fact that fewer processing elements are required and it is both faster and accurate than the Hopfield network </a:t>
            </a:r>
            <a:endParaRPr/>
          </a:p>
        </p:txBody>
      </p:sp>
      <p:sp>
        <p:nvSpPr>
          <p:cNvPr id="334" name="Google Shape;334;p46"/>
          <p:cNvSpPr txBox="1"/>
          <p:nvPr/>
        </p:nvSpPr>
        <p:spPr>
          <a:xfrm>
            <a:off x="539750" y="1268412"/>
            <a:ext cx="3024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HAMMING NETWORK</a:t>
            </a:r>
            <a:endParaRPr/>
          </a:p>
        </p:txBody>
      </p:sp>
      <p:sp>
        <p:nvSpPr>
          <p:cNvPr id="335" name="Shape 335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type="title"/>
          </p:nvPr>
        </p:nvSpPr>
        <p:spPr>
          <a:xfrm>
            <a:off x="468312" y="836612"/>
            <a:ext cx="82296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SELF-ORGANIZING MAP</a:t>
            </a:r>
            <a:endParaRPr/>
          </a:p>
        </p:txBody>
      </p:sp>
      <p:sp>
        <p:nvSpPr>
          <p:cNvPr id="341" name="Google Shape;341;p47"/>
          <p:cNvSpPr txBox="1"/>
          <p:nvPr>
            <p:ph idx="1" type="body"/>
          </p:nvPr>
        </p:nvSpPr>
        <p:spPr>
          <a:xfrm>
            <a:off x="4932362" y="1428750"/>
            <a:ext cx="4211700" cy="5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469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example of unsupervised learning</a:t>
            </a:r>
            <a:endParaRPr/>
          </a:p>
          <a:p>
            <a:pPr indent="-469900" lvl="0" marL="469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processing elements represent a 2-dimensional map of the input layer</a:t>
            </a:r>
            <a:endParaRPr/>
          </a:p>
          <a:p>
            <a:pPr indent="-469900" lvl="0" marL="469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without supervision</a:t>
            </a:r>
            <a:endParaRPr/>
          </a:p>
          <a:p>
            <a:pPr indent="-469900" lvl="0" marL="469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opearations competition,cooperaton,updating</a:t>
            </a:r>
            <a:endParaRPr/>
          </a:p>
          <a:p>
            <a:pPr indent="-469900" lvl="0" marL="469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typically has two layers. The input layer is connected to a 2-D Kohonen layer</a:t>
            </a:r>
            <a:endParaRPr/>
          </a:p>
          <a:p>
            <a:pPr indent="-469900" lvl="0" marL="469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 trains using the delta rule</a:t>
            </a:r>
            <a:endParaRPr/>
          </a:p>
          <a:p>
            <a:pPr indent="-469900" lvl="0" marL="469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descr="neural17" id="342" name="Google Shape;34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1916112"/>
            <a:ext cx="4464050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Shape 343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type="title"/>
          </p:nvPr>
        </p:nvSpPr>
        <p:spPr>
          <a:xfrm>
            <a:off x="4067175" y="533400"/>
            <a:ext cx="4619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  <a:endParaRPr/>
          </a:p>
        </p:txBody>
      </p:sp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4067175" y="1828800"/>
            <a:ext cx="46197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544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system modeling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Recognition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(Data) Compression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classification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 filtering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Servo-control systems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Text-to-speech conversion</a:t>
            </a:r>
            <a:endParaRPr/>
          </a:p>
          <a:p>
            <a:pPr indent="-34544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5440" lvl="0" marL="469900" rtl="0" algn="l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1" id="350" name="Google Shape;35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549275"/>
            <a:ext cx="3671887" cy="611981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Shape 351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>
            <p:ph type="title"/>
          </p:nvPr>
        </p:nvSpPr>
        <p:spPr>
          <a:xfrm>
            <a:off x="4716462" y="533400"/>
            <a:ext cx="397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4787900" y="1828800"/>
            <a:ext cx="4176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□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have the ability to perform tasks outside the scope of traditional processors</a:t>
            </a:r>
            <a:endParaRPr/>
          </a:p>
          <a:p>
            <a:pPr indent="-381000" lvl="0" marL="469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□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learn and they are not programmed</a:t>
            </a:r>
            <a:endParaRPr/>
          </a:p>
          <a:p>
            <a:pPr indent="-381000" lvl="0" marL="469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□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along with fuzzy logic and expert system will be able to read handwritings, hear speech and formulate action and thus become the leading edge to “intelligent” machine</a:t>
            </a:r>
            <a:endParaRPr/>
          </a:p>
        </p:txBody>
      </p:sp>
      <p:pic>
        <p:nvPicPr>
          <p:cNvPr descr="images" id="358" name="Google Shape;35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765175"/>
            <a:ext cx="4103687" cy="609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Shape 359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365" name="Google Shape;365;p50"/>
          <p:cNvSpPr txBox="1"/>
          <p:nvPr>
            <p:ph idx="1" type="body"/>
          </p:nvPr>
        </p:nvSpPr>
        <p:spPr>
          <a:xfrm>
            <a:off x="457200" y="1828800"/>
            <a:ext cx="8229600" cy="452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JOURNALS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 E.Uhrig Department of Nuclear Engg, University of Tennesse, Introduction to artficial neural networks,1995 IEEE. 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Broussard, R.P.; Kennell, L.R.; Soldan, D.L.; Ives,R.W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.;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Artificial Neural Networks and Feature Saliency Techniques for Improved Iris Segmentation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IEEE publication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 Chow Kuang; Ooi, M.P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.;</a:t>
            </a: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Faster and Cheaper Method of Implementing States Observers using Artificial Neural Networks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publication</a:t>
            </a:r>
            <a:endParaRPr/>
          </a:p>
        </p:txBody>
      </p:sp>
      <p:sp>
        <p:nvSpPr>
          <p:cNvPr id="366" name="Shape 366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type="title"/>
          </p:nvPr>
        </p:nvSpPr>
        <p:spPr>
          <a:xfrm>
            <a:off x="5580062" y="533400"/>
            <a:ext cx="310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51"/>
          <p:cNvSpPr txBox="1"/>
          <p:nvPr>
            <p:ph idx="1" type="body"/>
          </p:nvPr>
        </p:nvSpPr>
        <p:spPr>
          <a:xfrm>
            <a:off x="5508625" y="620712"/>
            <a:ext cx="31782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i="0" lang="en-US" sz="4000" u="none">
                <a:solidFill>
                  <a:srgbClr val="8000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/>
          </a:p>
          <a:p>
            <a:pPr indent="-469900" lvl="0" marL="469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i="0" lang="en-US" sz="4000" u="none">
                <a:solidFill>
                  <a:srgbClr val="8000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  <a:p>
            <a:pPr indent="-469900" lvl="0" marL="469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i="0" lang="en-US" sz="4000" u="none">
                <a:solidFill>
                  <a:srgbClr val="8000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indent="-469900" lvl="0" marL="469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i="0" lang="en-US" sz="4000" u="none">
                <a:solidFill>
                  <a:srgbClr val="8000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  <a:p>
            <a:pPr indent="-469900" lvl="0" marL="469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i="0" lang="en-US" sz="4000" u="none">
                <a:solidFill>
                  <a:srgbClr val="8000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  <a:p>
            <a:pPr indent="-469900" lvl="0" marL="469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i="0" lang="en-US" sz="4000" u="none">
                <a:solidFill>
                  <a:srgbClr val="8000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  <a:p>
            <a:pPr indent="-469900" lvl="0" marL="469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i="0" lang="en-US" sz="4000" u="none">
                <a:solidFill>
                  <a:srgbClr val="8000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pic>
        <p:nvPicPr>
          <p:cNvPr descr="neural_network" id="373" name="Google Shape;37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549275"/>
            <a:ext cx="5184775" cy="59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Shape 374"/>
          <p:cNvSpPr/>
          <p:nvPr/>
        </p:nvSpPr>
        <p:spPr>
          <a:xfrm>
            <a:off x="5364162" y="188912"/>
            <a:ext cx="3200400" cy="266700"/>
          </a:xfrm>
          <a:prstGeom prst="rect"/>
          <a:solidFill>
            <a:srgbClr val="FFFFFF">
              <a:alpha val="100000"/>
            </a:srgbClr>
          </a:solidFill>
          <a:ln cap="flat" cmpd="sng" algn="ctr">
            <a:noFill/>
            <a:miter lim="800000"/>
            <a:headEnd/>
            <a:tailEnd/>
          </a:ln>
        </p:spPr>
        <p:txBody>
          <a:bodyPr fromWordArt="1"/>
          <a:lstStyle>
            <a:defPPr lvl="0"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rPr b="0" i="0" u="none" cap="none">
                <a:latin typeface="Times New Roman"/>
              </a:rPr>
              <a:t>Artificial Neural Network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